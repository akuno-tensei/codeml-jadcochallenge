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14b0a30c0694ccf" /><Relationship Type="http://schemas.openxmlformats.org/officeDocument/2006/relationships/extended-properties" Target="/docProps/app.xml" Id="Rb1cf13b82b1a4014" /><Relationship Type="http://schemas.openxmlformats.org/officeDocument/2006/relationships/officeDocument" Target="/ppt/presentation.xml" Id="Rd9991cfb9ae74e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6d87abde74de4"/>
  </p:sldMasterIdLst>
  <p:notesMasterIdLst>
    <p:notesMasterId xmlns:r="http://schemas.openxmlformats.org/officeDocument/2006/relationships" r:id="R6ac27cd082e045d3"/>
  </p:notesMasterIdLst>
  <p:sldIdLst>
    <p:sldId xmlns:r="http://schemas.openxmlformats.org/officeDocument/2006/relationships" id="256" r:id="R1e39d2f6277547f7"/>
    <p:sldId xmlns:r="http://schemas.openxmlformats.org/officeDocument/2006/relationships" id="257" r:id="R92529de5e61d430f"/>
    <p:sldId xmlns:r="http://schemas.openxmlformats.org/officeDocument/2006/relationships" id="258" r:id="R011df1e326784759"/>
    <p:sldId xmlns:r="http://schemas.openxmlformats.org/officeDocument/2006/relationships" id="259" r:id="Ra9e100dd62a64ed0"/>
    <p:sldId xmlns:r="http://schemas.openxmlformats.org/officeDocument/2006/relationships" id="260" r:id="R8b22d42b525f4b34"/>
    <p:sldId xmlns:r="http://schemas.openxmlformats.org/officeDocument/2006/relationships" id="261" r:id="Rb4e22b52658741fc"/>
    <p:sldId xmlns:r="http://schemas.openxmlformats.org/officeDocument/2006/relationships" id="262" r:id="R37942f3fb7f64467"/>
    <p:sldId xmlns:r="http://schemas.openxmlformats.org/officeDocument/2006/relationships" id="263" r:id="R68ea6a1490194c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ed2c687f0e4471" /><Relationship Type="http://schemas.openxmlformats.org/officeDocument/2006/relationships/slideMaster" Target="/ppt/slideMasters/slideMaster1.xml" Id="R9266d87abde74de4" /><Relationship Type="http://schemas.openxmlformats.org/officeDocument/2006/relationships/notesMaster" Target="/ppt/notesMasters/notesMaster1.xml" Id="R6ac27cd082e045d3" /><Relationship Type="http://schemas.openxmlformats.org/officeDocument/2006/relationships/presProps" Target="/ppt/presProps.xml" Id="R64bc60c05d224ef5" /><Relationship Type="http://schemas.openxmlformats.org/officeDocument/2006/relationships/tableStyles" Target="/ppt/tableStyles.xml" Id="Re27a9da4b5f34c72" /><Relationship Type="http://schemas.openxmlformats.org/officeDocument/2006/relationships/slide" Target="/ppt/slides/slide1.xml" Id="R1e39d2f6277547f7" /><Relationship Type="http://schemas.openxmlformats.org/officeDocument/2006/relationships/slide" Target="/ppt/slides/slide2.xml" Id="R92529de5e61d430f" /><Relationship Type="http://schemas.openxmlformats.org/officeDocument/2006/relationships/slide" Target="/ppt/slides/slide3.xml" Id="R011df1e326784759" /><Relationship Type="http://schemas.openxmlformats.org/officeDocument/2006/relationships/slide" Target="/ppt/slides/slide4.xml" Id="Ra9e100dd62a64ed0" /><Relationship Type="http://schemas.openxmlformats.org/officeDocument/2006/relationships/slide" Target="/ppt/slides/slide5.xml" Id="R8b22d42b525f4b34" /><Relationship Type="http://schemas.openxmlformats.org/officeDocument/2006/relationships/slide" Target="/ppt/slides/slide6.xml" Id="Rb4e22b52658741fc" /><Relationship Type="http://schemas.openxmlformats.org/officeDocument/2006/relationships/slide" Target="/ppt/slides/slide7.xml" Id="R37942f3fb7f64467" /><Relationship Type="http://schemas.openxmlformats.org/officeDocument/2006/relationships/slide" Target="/ppt/slides/slide8.xml" Id="R68ea6a1490194c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b32eb88ed34a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725edf3e2654e72" /><Relationship Type="http://schemas.openxmlformats.org/officeDocument/2006/relationships/notesMaster" Target="/ppt/notesMasters/notesMaster1.xml" Id="Rbb07a74c80e64c1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d2ad03d49494efe" /><Relationship Type="http://schemas.openxmlformats.org/officeDocument/2006/relationships/notesMaster" Target="/ppt/notesMasters/notesMaster1.xml" Id="R00477d802eda49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f92b1b396d94dc2" /><Relationship Type="http://schemas.openxmlformats.org/officeDocument/2006/relationships/notesMaster" Target="/ppt/notesMasters/notesMaster1.xml" Id="Rfd0cf794c670409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2b2eacc9ea446c9" /><Relationship Type="http://schemas.openxmlformats.org/officeDocument/2006/relationships/notesMaster" Target="/ppt/notesMasters/notesMaster1.xml" Id="Rf8a5ab2c648246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28abc4ed444085" /><Relationship Type="http://schemas.openxmlformats.org/officeDocument/2006/relationships/notesMaster" Target="/ppt/notesMasters/notesMaster1.xml" Id="R48de19f13cd641f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ceecb5df8184b48" /><Relationship Type="http://schemas.openxmlformats.org/officeDocument/2006/relationships/notesMaster" Target="/ppt/notesMasters/notesMaster1.xml" Id="R55ca18b061f345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503a5d12ceb4ef8" /><Relationship Type="http://schemas.openxmlformats.org/officeDocument/2006/relationships/notesMaster" Target="/ppt/notesMasters/notesMaster1.xml" Id="R85a13da17de2462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fca4ec08624063" /><Relationship Type="http://schemas.openxmlformats.org/officeDocument/2006/relationships/notesMaster" Target="/ppt/notesMasters/notesMaster1.xml" Id="R10c7c7d49e7841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visuelle : présentation JADCO fournie aux participants. Estimation issue du notebook exécuté.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Définition retenue dans le notebook. La cible primaire utilise sRent; la sensibilité de trésorerie utilise sRentEffective.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equinoxe_lease_history.csv. Calculs : médiane annuelle de sRent et appariement à unité constante sur sPropCode + sUnitCode.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equinoxe_lease_history.csv et equinoxe_concessions.csv. PromoPay : durée médiane 1 mois, montant médian -1 356,60 $. Le loyer effectif utilise directement sRentEffective.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 publiques : TAL, pourcentages 2026; Ontario, Residential rent increases; SCHL, Rapport sur le marché locatif 2025 et Perspectives du marché de l'habitation 2025-2027.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backtest du notebook sur 2023, 2024 et 2025. La référence prolonge la médiane contractuelle des renouvellements de l'année précédente.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: calcul hiérarchique du notebook. Ontario : gouvernement de l'Ontario, exemption des immeubles occupés pour la première fois après le 15 novembre 2018. The Met apparaît dans les données en 2023; confirmation documentaire requise.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Recommandation finale. La plage contractuelle utilise l'erreur absolue maximale des trois backtests, arrondie au dixième supérieur. La lecture effective centrale suppose 25 % de persistance de la détérioration 2024-2025 du facteur effectif/contractuel.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255529e72643c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0316d098f84892" /><Relationship Type="http://schemas.openxmlformats.org/officeDocument/2006/relationships/slideLayout" Target="/ppt/slideLayouts/slideLayout1.xml" Id="R1fa14febedef42e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a14febedef42e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73053d29f74998" /><Relationship Type="http://schemas.openxmlformats.org/officeDocument/2006/relationships/image" Target="/ppt/media/image.png" Id="Ra18fbfca2b8041df" /><Relationship Type="http://schemas.openxmlformats.org/officeDocument/2006/relationships/notesSlide" Target="/ppt/notesSlides/notesSlide1.xml" Id="R4ae3f21a1c62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96d72f8fbf4c87" /><Relationship Type="http://schemas.openxmlformats.org/officeDocument/2006/relationships/notesSlide" Target="/ppt/notesSlides/notesSlide2.xml" Id="R7e88b34f7612484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bd9c1b1b514145" /><Relationship Type="http://schemas.openxmlformats.org/officeDocument/2006/relationships/chart" Target="/ppt/slides/charts/chart1.xml" Id="R6a9aaa5d7c85422d" /><Relationship Type="http://schemas.openxmlformats.org/officeDocument/2006/relationships/notesSlide" Target="/ppt/notesSlides/notesSlide3.xml" Id="Rc193db34f3774d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782ca7e1d54037" /><Relationship Type="http://schemas.openxmlformats.org/officeDocument/2006/relationships/chart" Target="/ppt/slides/charts/chart2.xml" Id="Rccde6f6d0a5145b1" /><Relationship Type="http://schemas.openxmlformats.org/officeDocument/2006/relationships/notesSlide" Target="/ppt/notesSlides/notesSlide4.xml" Id="R34f2f1320e4748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fe0d02a37b4893" /><Relationship Type="http://schemas.openxmlformats.org/officeDocument/2006/relationships/notesSlide" Target="/ppt/notesSlides/notesSlide5.xml" Id="Ra296a867325042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c0d78e5c04572" /><Relationship Type="http://schemas.openxmlformats.org/officeDocument/2006/relationships/chart" Target="/ppt/slides/charts/chart3.xml" Id="R93775b421be9469a" /><Relationship Type="http://schemas.openxmlformats.org/officeDocument/2006/relationships/notesSlide" Target="/ppt/notesSlides/notesSlide6.xml" Id="R2545e2aa5b844ef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e7698bb50c4072" /><Relationship Type="http://schemas.openxmlformats.org/officeDocument/2006/relationships/chart" Target="/ppt/slides/charts/chart4.xml" Id="R0e192809ff3f4918" /><Relationship Type="http://schemas.openxmlformats.org/officeDocument/2006/relationships/notesSlide" Target="/ppt/notesSlides/notesSlide7.xml" Id="R25deda2f09f34e1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18295c516a4ba2" /><Relationship Type="http://schemas.openxmlformats.org/officeDocument/2006/relationships/notesSlide" Target="/ppt/notesSlides/notesSlide8.xml" Id="Rb30600cbc5d74c1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Médiane de tous les baux</c:v>
          </c:tx>
          <c:spPr>
            <a:ln xmlns:a="http://schemas.openxmlformats.org/drawingml/2006/main" w="28575">
              <a:solidFill>
                <a:srgbClr val="A7C0D9"/>
              </a:solidFill>
              <a:prstDash val="dash"/>
            </a:ln>
          </c:spPr>
          <c:marker>
            <c:symbol val="circle"/>
            <c:size val="8"/>
            <c:spPr>
              <a:solidFill xmlns:a="http://schemas.openxmlformats.org/drawingml/2006/main">
                <a:srgbClr val="A7C0D9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4.23</c:v>
                </c:pt>
                <c:pt idx="1">
                  <c:v>3.38</c:v>
                </c:pt>
                <c:pt idx="2">
                  <c:v>10.85</c:v>
                </c:pt>
                <c:pt idx="3">
                  <c:v>4.48</c:v>
                </c:pt>
                <c:pt idx="4">
                  <c:v>4.06</c:v>
                </c:pt>
              </c:numCache>
            </c:numRef>
          </c:val>
          <c:smooth val="0"/>
        </c:ser>
        <c:ser>
          <c:idx val="1"/>
          <c:order val="1"/>
          <c:tx>
            <c:v>Même unité</c:v>
          </c:tx>
          <c:spPr>
            <a:ln xmlns:a="http://schemas.openxmlformats.org/drawingml/2006/main" w="38100">
              <a:solidFill>
                <a:srgbClr val="0B23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0B2345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4.46</c:v>
                </c:pt>
                <c:pt idx="1">
                  <c:v>5.4</c:v>
                </c:pt>
                <c:pt idx="2">
                  <c:v>2.29</c:v>
                </c:pt>
                <c:pt idx="3">
                  <c:v>3.39</c:v>
                </c:pt>
                <c:pt idx="4">
                  <c:v>7.04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B2345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Contractuel</c:v>
          </c:tx>
          <c:spPr>
            <a:ln xmlns:a="http://schemas.openxmlformats.org/drawingml/2006/main" w="38100">
              <a:solidFill>
                <a:srgbClr val="B79A5B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B79A5B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4.46</c:v>
                </c:pt>
                <c:pt idx="1">
                  <c:v>5.4</c:v>
                </c:pt>
                <c:pt idx="2">
                  <c:v>2.29</c:v>
                </c:pt>
                <c:pt idx="3">
                  <c:v>3.39</c:v>
                </c:pt>
                <c:pt idx="4">
                  <c:v>7.05</c:v>
                </c:pt>
              </c:numCache>
            </c:numRef>
          </c:val>
        </c:ser>
        <c:ser>
          <c:idx val="1"/>
          <c:order val="1"/>
          <c:tx>
            <c:v>Effectif</c:v>
          </c:tx>
          <c:spPr>
            <a:ln xmlns:a="http://schemas.openxmlformats.org/drawingml/2006/main" w="38100">
              <a:solidFill>
                <a:srgbClr val="0B23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0B2345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3.54</c:v>
                </c:pt>
                <c:pt idx="1">
                  <c:v>4.59</c:v>
                </c:pt>
                <c:pt idx="2">
                  <c:v>2.02</c:v>
                </c:pt>
                <c:pt idx="3">
                  <c:v>1.77</c:v>
                </c:pt>
                <c:pt idx="4">
                  <c:v>3.58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B2345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Prévu</c:v>
          </c:tx>
          <c:spPr>
            <a:solidFill xmlns:a="http://schemas.openxmlformats.org/drawingml/2006/main">
              <a:srgbClr val="B79A5B"/>
            </a:solidFill>
          </c:spPr>
          <c:cat>
            <c:numRef>
              <c:f>'Chart Data'!$A$2:$A$4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2.33</c:v>
                </c:pt>
                <c:pt idx="1">
                  <c:v>3.79</c:v>
                </c:pt>
                <c:pt idx="2">
                  <c:v>5.49</c:v>
                </c:pt>
              </c:numCache>
            </c:numRef>
          </c:val>
        </c:ser>
        <c:ser>
          <c:idx val="1"/>
          <c:order val="1"/>
          <c:tx>
            <c:v>Observé</c:v>
          </c:tx>
          <c:spPr>
            <a:solidFill xmlns:a="http://schemas.openxmlformats.org/drawingml/2006/main">
              <a:srgbClr val="0B2345"/>
            </a:solidFill>
          </c:spPr>
          <c:cat>
            <c:numRef>
              <c:f>'Chart Data'!$C$2:$C$4</c:f>
              <c:numCache>
                <c:formatCode>General</c:formatCod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numCache>
            </c:num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2.58</c:v>
                </c:pt>
                <c:pt idx="1">
                  <c:v>2.95</c:v>
                </c:pt>
                <c:pt idx="2">
                  <c:v>6.41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0B23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0B2345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Prévision 2026</c:v>
          </c:tx>
          <c:spPr>
            <a:solidFill xmlns:a="http://schemas.openxmlformats.org/drawingml/2006/main">
              <a:srgbClr val="0B2345"/>
            </a:solidFill>
          </c:spPr>
          <c:dPt>
            <c:idx val="5"/>
            <c:invertIfNegative val="0"/>
            <c:spPr>
              <a:solidFill xmlns:a="http://schemas.openxmlformats.org/drawingml/2006/main">
                <a:srgbClr val="B79A5B"/>
              </a:solidFill>
            </c:spPr>
          </c:dPt>
          <c:cat>
            <c:strRef>
              <c:f>'Chart Data'!$A$2:$A$7</c:f>
              <c:strCache>
                <c:ptCount val="6"/>
                <c:pt idx="0">
                  <c:v>Westpark</c:v>
                </c:pt>
                <c:pt idx="1">
                  <c:v>Lévesque</c:v>
                </c:pt>
                <c:pt idx="2">
                  <c:v>Le Carlyle</c:v>
                </c:pt>
                <c:pt idx="3">
                  <c:v>Daniel-Johnson</c:v>
                </c:pt>
                <c:pt idx="4">
                  <c:v>Saint-Elzéar</c:v>
                </c:pt>
                <c:pt idx="5">
                  <c:v>The Met</c:v>
                </c:pt>
              </c:strCache>
            </c:str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3</c:v>
                </c:pt>
                <c:pt idx="1">
                  <c:v>3.01</c:v>
                </c:pt>
                <c:pt idx="2">
                  <c:v>3.08</c:v>
                </c:pt>
                <c:pt idx="3">
                  <c:v>3.11</c:v>
                </c:pt>
                <c:pt idx="4">
                  <c:v>3.26</c:v>
                </c:pt>
                <c:pt idx="5">
                  <c:v>4.61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0B23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.2"/>
          <c:min val="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9DEE5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B9C0C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8fbfca2b8041d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EAED94-9C9B-440D-BE44-FC35F81F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05300"/>
            <a:ext cx="12192000" cy="255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23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2E1E18-D1E8-40C1-8DCF-2DAA6ADD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152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4275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Hausse de loyer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63753A-D531-4AB9-B8F7-476C6FACB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95900"/>
            <a:ext cx="647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3C9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3C98B"/>
                </a:solidFill>
                <a:latin typeface="Arial"/>
                <a:ea typeface="Arial"/>
                <a:cs typeface="Arial"/>
              </a:rPr>
              <a:t>3,3 % au contrat</a:t>
            </a:r>
          </a:p>
          <a:p xmlns:a="http://schemas.openxmlformats.org/drawingml/2006/main">
            <a:pPr algn="l">
              <a:defRPr sz="2025" b="1">
                <a:solidFill>
                  <a:srgbClr val="E3C98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3C98B"/>
                </a:solidFill>
                <a:latin typeface="Arial"/>
                <a:ea typeface="Arial"/>
                <a:cs typeface="Arial"/>
              </a:rPr>
              <a:t>2,4 % en lecture effective centrale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83E8BC-A484-4B3C-8E8C-D72C2D8E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3055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Collection Équinoxe  ·  Prévision à unité constante</a:t>
            </a:r>
          </a:p>
        </p:txBody>
      </p:sp>
    </p:spTree>
    <p:extLst>
      <p:ext uri="{BB962C8B-B14F-4D97-AF65-F5344CB8AC3E}">
        <p14:creationId xmlns:p14="http://schemas.microsoft.com/office/powerpoint/2010/main" val="18284171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5F8980-8949-468E-8063-1B5AD219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La hausse qui guide le prochain bail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0684A-8457-49A3-8057-15691D2AA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A242D-EBA4-4843-8313-5CD985AE7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47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Définition principale : renouvellements contractuels à unité constante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64573-25C0-419B-8C3F-2024C824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3714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610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6150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3,3 %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67150A-FABF-4F77-80AE-E295432F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hausse contractuelle 2026</a:t>
            </a:r>
          </a:p>
          <a:p xmlns:a="http://schemas.openxmlformats.org/drawingml/2006/main">
            <a:pPr algn="l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portefeuille de renouvellements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D6BF9-4939-418E-8B13-28E5D4A5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5260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F30B24-6FD9-4138-8C89-0E05543F7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7907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345"/>
                </a:solidFill>
                <a:latin typeface="Arial"/>
                <a:ea typeface="Arial"/>
                <a:cs typeface="Arial"/>
              </a:rPr>
              <a:t>Même unité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94C0AA-FF73-427E-960C-D10480100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5410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Chaque appartement est comparé à son bail précédent avec sPropCode + sUnitCode.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FC461-F599-4457-B9CE-0A580DCE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345"/>
                </a:solidFill>
                <a:latin typeface="Arial"/>
                <a:ea typeface="Arial"/>
                <a:cs typeface="Arial"/>
              </a:rPr>
              <a:t>Renouvellement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5AB28D6-284C-4D73-87C3-60F3BB61E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57600"/>
            <a:ext cx="541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La cible répond à une décision contrôlable et respecte les règles provinciales.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E5F484-2DA8-4C7C-A67C-82262E3F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686300"/>
            <a:ext cx="2571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428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B234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2345"/>
                </a:solidFill>
                <a:latin typeface="Arial"/>
                <a:ea typeface="Arial"/>
                <a:cs typeface="Arial"/>
              </a:rPr>
              <a:t>Loyer effectif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46BE7A-8B5B-4CFB-A7AF-ED12AE1EB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05400"/>
            <a:ext cx="54102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Une lecture séparée mesure l'encaissement après concessions sans brouiller la cible de prix.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1988E7-3DE2-4002-B2D0-7700F92D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81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8B"/>
                </a:solidFill>
                <a:latin typeface="Arial"/>
                <a:ea typeface="Arial"/>
                <a:cs typeface="Arial"/>
              </a:rPr>
              <a:t>CODEML 2026  |  2</a:t>
            </a:r>
          </a:p>
        </p:txBody>
      </p:sp>
    </p:spTree>
    <p:extLst>
      <p:ext uri="{BB962C8B-B14F-4D97-AF65-F5344CB8AC3E}">
        <p14:creationId xmlns:p14="http://schemas.microsoft.com/office/powerpoint/2010/main" val="127258337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69C83-7E44-41B7-B6BE-19C25FF9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432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En 2023, la médiane naïve affiche 10,8 % contre 2,3 % à unité constante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C6E390-8906-4F96-A8AD-5A7F08BD8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8B5841-9C70-4E39-8624-BE023761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47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Le Carlyle et The Met entrent dans l'échantillon cette année-là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19150" y="1581150"/>
          <a:ext xmlns:a="http://schemas.openxmlformats.org/drawingml/2006/main" cx="104775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9aaa5d7c85422d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31E9E8-5606-4552-AC35-AAEBBC0B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402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B23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B2345"/>
                </a:solidFill>
                <a:latin typeface="Arial"/>
                <a:ea typeface="Arial"/>
                <a:cs typeface="Arial"/>
              </a:rPr>
              <a:t>La différence mesure la composition du portefeuille, pas une hausse vécue par la même unité.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E5DA58-867A-462D-8D93-7DE5B78B1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81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8B"/>
                </a:solidFill>
                <a:latin typeface="Arial"/>
                <a:ea typeface="Arial"/>
                <a:cs typeface="Arial"/>
              </a:rPr>
              <a:t>CODEML 2026  |  3</a:t>
            </a:r>
          </a:p>
        </p:txBody>
      </p:sp>
    </p:spTree>
    <p:extLst>
      <p:ext uri="{BB962C8B-B14F-4D97-AF65-F5344CB8AC3E}">
        <p14:creationId xmlns:p14="http://schemas.microsoft.com/office/powerpoint/2010/main" val="636718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3AF66C-9B29-47F2-B6C8-308280EDC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683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Les concessions absorbent près de la moitié de la hausse 2025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6D7E59-8512-492F-87E4-A4E6A503B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C5CA3C-1B70-4914-95F1-14A0DF80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47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Croissance à unité constante de tous les baux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7239000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de6f6d0a5145b1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234FB-CC96-4364-9774-8551B8F3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0002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650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85 %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B38E6D-6E05-4D86-9588-D8732E14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813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des baux 2025</a:t>
            </a:r>
          </a:p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avec concession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0A11F-A608-4617-B6E3-45EAF2D3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19500"/>
            <a:ext cx="2095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7499E0-8C5D-4465-AD66-D8DA4A9D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862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B79A5B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B79A5B"/>
                </a:solidFill>
                <a:latin typeface="Georgia"/>
                <a:ea typeface="Georgia"/>
                <a:cs typeface="Georgia"/>
              </a:rPr>
              <a:t>1 mois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2347D1-1B67-49A0-AB15-A8A46845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6672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durée médiane</a:t>
            </a:r>
          </a:p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de PromoPay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357529-F48B-4271-BA75-2BC25CDEF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57212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333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B23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345"/>
                </a:solidFill>
                <a:latin typeface="Arial"/>
                <a:ea typeface="Arial"/>
                <a:cs typeface="Arial"/>
              </a:rPr>
              <a:t>7,0 % contractuel</a:t>
            </a:r>
          </a:p>
          <a:p xmlns:a="http://schemas.openxmlformats.org/drawingml/2006/main">
            <a:pPr algn="ctr">
              <a:defRPr sz="1875" b="1">
                <a:solidFill>
                  <a:srgbClr val="0B234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2345"/>
                </a:solidFill>
                <a:latin typeface="Arial"/>
                <a:ea typeface="Arial"/>
                <a:cs typeface="Arial"/>
              </a:rPr>
              <a:t>3,6 % effectif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C4D3D8-6F5C-4DC5-93CE-82D186A3A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81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8B"/>
                </a:solidFill>
                <a:latin typeface="Arial"/>
                <a:ea typeface="Arial"/>
                <a:cs typeface="Arial"/>
              </a:rPr>
              <a:t>CODEML 2026  |  4</a:t>
            </a:r>
          </a:p>
        </p:txBody>
      </p:sp>
    </p:spTree>
    <p:extLst>
      <p:ext uri="{BB962C8B-B14F-4D97-AF65-F5344CB8AC3E}">
        <p14:creationId xmlns:p14="http://schemas.microsoft.com/office/powerpoint/2010/main" val="17064530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B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A4C1EF-FED2-46F7-BC81-14C9D0FBE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651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Une méthode liée aux règles et au calendrier des baux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74EB5-4E9D-4573-804A-11BE3C27C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66D300-B466-4A0A-8A78-425B3161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9A5B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B79A5B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E7934B-9F80-400F-BB10-7F21F622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5811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Appariement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30033-54FE-4814-8588-7A574CC43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571625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Même unité, croissance annualisée, écarts de 0,5 à 2,5 ans.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1D2116-D54B-455D-BA76-1A559151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812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95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E34D18-4019-46EE-84E0-F2DA840AE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9A5B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B79A5B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952420-C33A-4CA5-B8AD-45A5685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432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Québec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42DBC-E7F4-4ED2-B329-62F8DCC56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733675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TAL 2026 : ancre de 3,1 % pour cinq immeubles.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3C6240-148E-4056-AAFA-173509AA9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4330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95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C8A3B-8D8A-45D7-872E-FBA0C7D4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9A5B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B79A5B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62B1FC-0872-49FA-8199-5E7BACD17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90525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Ontario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A68473-2B73-4ACD-AA26-E77DB5D5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895725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The Met : historique interne et prévision SCHL d'Ottawa, sous réserve de confirmer l'exemption.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CA98C4-DA38-4EAE-9011-DF12765C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92868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95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A45EAF-7451-44F8-8D5E-85247AA5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054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B79A5B"/>
                </a:solidFill>
                <a:latin typeface="Georgia"/>
                <a:ea typeface="Georgia"/>
                <a:cs typeface="Georgia"/>
              </a:defRPr>
            </a:pPr>
            <a:r>
              <a:rPr sz="2175" b="1">
                <a:solidFill>
                  <a:srgbClr val="B79A5B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985AA-F1B3-4DA5-9476-CF3281E7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0673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Pondération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1BF583-F118-4C2E-AC2A-BDBFA48C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057775"/>
            <a:ext cx="676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Baux déjà connus qui arrivent à échéance en 2026.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4B342-611B-4B5E-BBA7-61E6766A0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CODEML 2026  |  5</a:t>
            </a:r>
          </a:p>
        </p:txBody>
      </p:sp>
    </p:spTree>
    <p:extLst>
      <p:ext uri="{BB962C8B-B14F-4D97-AF65-F5344CB8AC3E}">
        <p14:creationId xmlns:p14="http://schemas.microsoft.com/office/powerpoint/2010/main" val="21020271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1B06BE-10C3-4765-AF8F-F0783A207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Le backtest réduit l'erreur moyenne à 0,7 point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2A5399-8474-4520-8804-AD07A551A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7B7B94-81E6-4B05-9B80-35D51B0CA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47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Prévisions faites avec l'information disponible avant chaque année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7620000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3775b421be9469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959FF0-6319-43BE-AC77-9CD3C2E8F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1930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4350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0,67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51362A-3A76-41C5-995B-878A644A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point d'erreur absolue</a:t>
            </a:r>
          </a:p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moyenne du modèle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FD6178-F291-46E3-9523-4EAC3412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14750"/>
            <a:ext cx="213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D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E3FFE1-3A77-4C54-A5BA-4CAC9ABF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19550"/>
            <a:ext cx="2571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A7C0D9"/>
                </a:solidFill>
                <a:latin typeface="Georgia"/>
                <a:ea typeface="Georgia"/>
                <a:cs typeface="Georgia"/>
              </a:defRPr>
            </a:pPr>
            <a:r>
              <a:rPr sz="3750" b="1">
                <a:solidFill>
                  <a:srgbClr val="A7C0D9"/>
                </a:solidFill>
                <a:latin typeface="Georgia"/>
                <a:ea typeface="Georgia"/>
                <a:cs typeface="Georgia"/>
              </a:rPr>
              <a:t>2,32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8FCBB0-B8FD-4240-B565-C9415B10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800600"/>
            <a:ext cx="2571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points pour prolonger</a:t>
            </a:r>
          </a:p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la dernière année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A7AF14-0FFA-486F-9067-C4772C3A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81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8B"/>
                </a:solidFill>
                <a:latin typeface="Arial"/>
                <a:ea typeface="Arial"/>
                <a:cs typeface="Arial"/>
              </a:rPr>
              <a:t>CODEML 2026  |  6</a:t>
            </a:r>
          </a:p>
        </p:txBody>
      </p:sp>
    </p:spTree>
    <p:extLst>
      <p:ext uri="{BB962C8B-B14F-4D97-AF65-F5344CB8AC3E}">
        <p14:creationId xmlns:p14="http://schemas.microsoft.com/office/powerpoint/2010/main" val="162631908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6CA603-BF47-4082-BBE2-AA3AE5EB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108966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741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0B2345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0B2345"/>
                </a:solidFill>
                <a:latin typeface="Georgia"/>
                <a:ea typeface="Georgia"/>
                <a:cs typeface="Georgia"/>
              </a:rPr>
              <a:t>Cinq immeubles convergent vers 3,1 %; The Met reste plus élevé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315DC-70A1-4806-97D4-4DA2C1EC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0015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547DD0-4313-4B8C-8EEF-F7FF9B82E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047750"/>
            <a:ext cx="942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Prévision contractuelle 2026 des renouvellements, avec régularisation par immeuble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838200" y="1600200"/>
          <a:ext xmlns:a="http://schemas.openxmlformats.org/drawingml/2006/main" cx="103632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192809ff3f491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7DB594-B740-47D0-8755-AD503285B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810250"/>
            <a:ext cx="895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5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65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E6570"/>
                </a:solidFill>
                <a:latin typeface="Arial"/>
                <a:ea typeface="Arial"/>
                <a:cs typeface="Arial"/>
              </a:rPr>
              <a:t>The Met est probablement exempté du plafond ontarien de 2,1 %; la date de première occupation doit être confirmée.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4FE89-B65E-4A2F-8E6E-347FD9C8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7A818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7A818B"/>
                </a:solidFill>
                <a:latin typeface="Arial"/>
                <a:ea typeface="Arial"/>
                <a:cs typeface="Arial"/>
              </a:rPr>
              <a:t>CODEML 2026  |  7</a:t>
            </a:r>
          </a:p>
        </p:txBody>
      </p:sp>
    </p:spTree>
    <p:extLst>
      <p:ext uri="{BB962C8B-B14F-4D97-AF65-F5344CB8AC3E}">
        <p14:creationId xmlns:p14="http://schemas.microsoft.com/office/powerpoint/2010/main" val="20354444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23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1487A9-7522-4425-BCC9-C0C528D4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6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Décision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219D9-2819-4AB8-B2AF-DFFA63309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295400"/>
            <a:ext cx="1123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79A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B913C-053A-420A-9A83-238EB7747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3,3 %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E4CA46-A55B-4ED5-8244-3B482CD1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33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budget contractuel</a:t>
            </a:r>
          </a:p>
          <a:p xmlns:a="http://schemas.openxmlformats.org/drawingml/2006/main">
            <a:pPr algn="l">
              <a:defRPr sz="150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des renouvellements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559A3F-0B7B-4716-8D4A-2FD83DE7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52600"/>
            <a:ext cx="314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B79A5B"/>
                </a:solidFill>
                <a:latin typeface="Georgia"/>
                <a:ea typeface="Georgia"/>
                <a:cs typeface="Georgia"/>
              </a:defRPr>
            </a:pPr>
            <a:r>
              <a:rPr sz="5850" b="1">
                <a:solidFill>
                  <a:srgbClr val="B79A5B"/>
                </a:solidFill>
                <a:latin typeface="Georgia"/>
                <a:ea typeface="Georgia"/>
                <a:cs typeface="Georgia"/>
              </a:rPr>
              <a:t>2,4 %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21A1C1-20DD-42F7-8777-BA3679B97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33650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lecture effective centrale</a:t>
            </a:r>
          </a:p>
          <a:p xmlns:a="http://schemas.openxmlformats.org/drawingml/2006/main">
            <a:pPr algn="l">
              <a:defRPr sz="150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après concessions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1325B6-5201-4EE2-8B57-B445F2FE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5260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2,3–4,3 %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AC46EA-F635-41AD-89DB-805F0DE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53365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plage contractuelle</a:t>
            </a:r>
          </a:p>
          <a:p xmlns:a="http://schemas.openxmlformats.org/drawingml/2006/main">
            <a:pPr algn="l">
              <a:defRPr sz="150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de planification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8E26D2-F6D3-4667-A873-0BBD01EFA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0610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7395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E9119A-0FA4-4E71-87CD-9AF9DF264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9A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9A5B"/>
                </a:solidFill>
                <a:latin typeface="Arial"/>
                <a:ea typeface="Arial"/>
                <a:cs typeface="Arial"/>
              </a:rPr>
              <a:t>À confirmer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B7FDC9-DFC1-4B3D-BF96-B8356036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5339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Première date d'occupation de The Met et statut d'exemption ontarienne.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3211F-035D-4D86-A681-44FF7979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149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79A5B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79A5B"/>
                </a:solidFill>
                <a:latin typeface="Arial"/>
                <a:ea typeface="Arial"/>
                <a:cs typeface="Arial"/>
              </a:rPr>
              <a:t>À suivre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174C2C-3789-4062-A4DA-518F940EB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33400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Ratio effectif/contractuel et valeur des concessions dès les premiers baux 2026.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745173-14D0-4C9A-BF46-C0CD20B9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1638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D7DFE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D7DFE9"/>
                </a:solidFill>
                <a:latin typeface="Arial"/>
                <a:ea typeface="Arial"/>
                <a:cs typeface="Arial"/>
              </a:rPr>
              <a:t>CODEML 2026  |  8</a:t>
            </a:r>
          </a:p>
        </p:txBody>
      </p:sp>
    </p:spTree>
    <p:extLst>
      <p:ext uri="{BB962C8B-B14F-4D97-AF65-F5344CB8AC3E}">
        <p14:creationId xmlns:p14="http://schemas.microsoft.com/office/powerpoint/2010/main" val="1548639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2026-10-04T06:22:25.2090000Z</dcterms:created>
  <dcterms:modified xsi:type="dcterms:W3CDTF">2026-10-04T06:22:25.2090000Z</dcterms:modified>
</coreProperties>
</file>